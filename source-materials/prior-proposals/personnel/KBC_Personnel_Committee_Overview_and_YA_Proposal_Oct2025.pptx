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858000" cy="9144000"/>
  <p:embeddedFontLst>
    <p:embeddedFont>
      <p:font typeface="Corbel"/>
      <p:regular r:id="rId15"/>
      <p:bold r:id="rId16"/>
      <p:italic r:id="rId17"/>
      <p:boldItalic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YYan9zNMbNhwE6a0/3U2OFXG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4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Corbel-regular.fntdata"/><Relationship Id="rId14" Type="http://schemas.openxmlformats.org/officeDocument/2006/relationships/slide" Target="slides/slide8.xml"/><Relationship Id="rId17" Type="http://schemas.openxmlformats.org/officeDocument/2006/relationships/font" Target="fonts/Corbel-italic.fntdata"/><Relationship Id="rId16" Type="http://schemas.openxmlformats.org/officeDocument/2006/relationships/font" Target="fonts/Corbel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Gothic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rbel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982133" y="2667000"/>
            <a:ext cx="7704667" cy="3332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7344329" y="6108173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1972647" y="6108173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982133" y="2667000"/>
            <a:ext cx="7704667" cy="3332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0" type="dt"/>
          </p:nvPr>
        </p:nvSpPr>
        <p:spPr>
          <a:xfrm>
            <a:off x="7344329" y="6108173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1" type="ftr"/>
          </p:nvPr>
        </p:nvSpPr>
        <p:spPr>
          <a:xfrm>
            <a:off x="1972647" y="6108173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45" name="Google Shape;45;p14"/>
            <p:cNvSpPr/>
            <p:nvPr/>
          </p:nvSpPr>
          <p:spPr>
            <a:xfrm>
              <a:off x="641350" y="0"/>
              <a:ext cx="1365250" cy="3971925"/>
            </a:xfrm>
            <a:custGeom>
              <a:rect b="b" l="l" r="r" t="t"/>
              <a:pathLst>
                <a:path extrusionOk="0" h="2502" w="86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6" name="Google Shape;46;p14"/>
            <p:cNvSpPr/>
            <p:nvPr/>
          </p:nvSpPr>
          <p:spPr>
            <a:xfrm>
              <a:off x="203200" y="0"/>
              <a:ext cx="1336675" cy="3862388"/>
            </a:xfrm>
            <a:custGeom>
              <a:rect b="b" l="l" r="r" t="t"/>
              <a:pathLst>
                <a:path extrusionOk="0" h="2433" w="842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7" name="Google Shape;47;p14"/>
            <p:cNvSpPr/>
            <p:nvPr/>
          </p:nvSpPr>
          <p:spPr>
            <a:xfrm>
              <a:off x="207963" y="3776663"/>
              <a:ext cx="1936750" cy="3081338"/>
            </a:xfrm>
            <a:custGeom>
              <a:rect b="b" l="l" r="r" t="t"/>
              <a:pathLst>
                <a:path extrusionOk="0" h="1941" w="122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8" name="Google Shape;48;p14"/>
            <p:cNvSpPr/>
            <p:nvPr/>
          </p:nvSpPr>
          <p:spPr>
            <a:xfrm>
              <a:off x="646113" y="3886200"/>
              <a:ext cx="2373313" cy="2971800"/>
            </a:xfrm>
            <a:custGeom>
              <a:rect b="b" l="l" r="r" t="t"/>
              <a:pathLst>
                <a:path extrusionOk="0" h="1872" w="1495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49" name="Google Shape;49;p14"/>
            <p:cNvSpPr/>
            <p:nvPr/>
          </p:nvSpPr>
          <p:spPr>
            <a:xfrm>
              <a:off x="641350" y="3881438"/>
              <a:ext cx="3340100" cy="2976563"/>
            </a:xfrm>
            <a:custGeom>
              <a:rect b="b" l="l" r="r" t="t"/>
              <a:pathLst>
                <a:path extrusionOk="0" h="1875" w="2104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50" name="Google Shape;50;p14"/>
            <p:cNvSpPr/>
            <p:nvPr/>
          </p:nvSpPr>
          <p:spPr>
            <a:xfrm>
              <a:off x="203200" y="3771900"/>
              <a:ext cx="2660650" cy="3086100"/>
            </a:xfrm>
            <a:custGeom>
              <a:rect b="b" l="l" r="r" t="t"/>
              <a:pathLst>
                <a:path extrusionOk="0" h="1944" w="1676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51" name="Google Shape;51;p14"/>
          <p:cNvSpPr txBox="1"/>
          <p:nvPr>
            <p:ph type="ctrTitle"/>
          </p:nvPr>
        </p:nvSpPr>
        <p:spPr>
          <a:xfrm>
            <a:off x="1739673" y="914401"/>
            <a:ext cx="6947127" cy="34882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" type="subTitle"/>
          </p:nvPr>
        </p:nvSpPr>
        <p:spPr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7325773" y="6117336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3623733" y="6117336"/>
            <a:ext cx="36094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75320" y="6117336"/>
            <a:ext cx="4114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203200" y="3771900"/>
            <a:ext cx="361950" cy="90488"/>
          </a:xfrm>
          <a:custGeom>
            <a:rect b="b" l="l" r="r" t="t"/>
            <a:pathLst>
              <a:path extrusionOk="0" h="57" w="228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sp>
        <p:nvSpPr>
          <p:cNvPr id="57" name="Google Shape;57;p14"/>
          <p:cNvSpPr/>
          <p:nvPr/>
        </p:nvSpPr>
        <p:spPr>
          <a:xfrm>
            <a:off x="560388" y="3867150"/>
            <a:ext cx="61913" cy="80963"/>
          </a:xfrm>
          <a:custGeom>
            <a:rect b="b" l="l" r="r" t="t"/>
            <a:pathLst>
              <a:path extrusionOk="0" h="51" w="39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86995" y="2666998"/>
            <a:ext cx="6699805" cy="2360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1986998" y="5027070"/>
            <a:ext cx="6699802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982133" y="685801"/>
            <a:ext cx="7704667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982133" y="2667000"/>
            <a:ext cx="3739896" cy="3368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16"/>
          <p:cNvSpPr txBox="1"/>
          <p:nvPr>
            <p:ph idx="2" type="body"/>
          </p:nvPr>
        </p:nvSpPr>
        <p:spPr>
          <a:xfrm>
            <a:off x="4946904" y="2667000"/>
            <a:ext cx="3739896" cy="3346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8" name="Google Shape;68;p16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1329481" y="2658533"/>
            <a:ext cx="345629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1113523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3" type="body"/>
          </p:nvPr>
        </p:nvSpPr>
        <p:spPr>
          <a:xfrm>
            <a:off x="5161710" y="2667000"/>
            <a:ext cx="346780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6" name="Google Shape;76;p17"/>
          <p:cNvSpPr txBox="1"/>
          <p:nvPr>
            <p:ph idx="4" type="body"/>
          </p:nvPr>
        </p:nvSpPr>
        <p:spPr>
          <a:xfrm>
            <a:off x="4957266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1113524" y="1600200"/>
            <a:ext cx="26625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3947553" y="685800"/>
            <a:ext cx="4681962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92" name="Google Shape;92;p20"/>
          <p:cNvSpPr txBox="1"/>
          <p:nvPr>
            <p:ph idx="2" type="body"/>
          </p:nvPr>
        </p:nvSpPr>
        <p:spPr>
          <a:xfrm>
            <a:off x="1113524" y="2971800"/>
            <a:ext cx="266253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1112332" y="1752599"/>
            <a:ext cx="40706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/>
          <p:nvPr>
            <p:ph idx="2" type="pic"/>
          </p:nvPr>
        </p:nvSpPr>
        <p:spPr>
          <a:xfrm>
            <a:off x="5697495" y="914400"/>
            <a:ext cx="2461371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1112332" y="3124199"/>
            <a:ext cx="407067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1113523" y="4732865"/>
            <a:ext cx="751599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/>
          <p:nvPr>
            <p:ph idx="2" type="pic"/>
          </p:nvPr>
        </p:nvSpPr>
        <p:spPr>
          <a:xfrm>
            <a:off x="1789975" y="932112"/>
            <a:ext cx="6171065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1113523" y="5299603"/>
            <a:ext cx="751599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1113524" y="685800"/>
            <a:ext cx="751599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8" name="Google Shape;118;p2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9" name="Google Shape;119;p24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1598235" y="3428999"/>
            <a:ext cx="66311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2" type="body"/>
          </p:nvPr>
        </p:nvSpPr>
        <p:spPr>
          <a:xfrm>
            <a:off x="1113523" y="4343400"/>
            <a:ext cx="751599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1113525" y="3308581"/>
            <a:ext cx="751598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1113524" y="4777381"/>
            <a:ext cx="751599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33" name="Google Shape;133;p26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34" name="Google Shape;134;p26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1113525" y="3886200"/>
            <a:ext cx="751599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2" type="body"/>
          </p:nvPr>
        </p:nvSpPr>
        <p:spPr>
          <a:xfrm>
            <a:off x="1113524" y="4775200"/>
            <a:ext cx="751599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7" name="Google Shape;137;p26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1113525" y="685801"/>
            <a:ext cx="7515991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1113524" y="3505200"/>
            <a:ext cx="75159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2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4" name="Google Shape;144;p27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 rot="5400000">
            <a:off x="3155970" y="493164"/>
            <a:ext cx="3356995" cy="770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 rot="5400000">
            <a:off x="5412754" y="2574439"/>
            <a:ext cx="5105400" cy="1328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 rot="5400000">
            <a:off x="1569011" y="230314"/>
            <a:ext cx="5105400" cy="601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1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7" name="Google Shape;7;p11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" name="Google Shape;8;p11"/>
            <p:cNvSpPr/>
            <p:nvPr/>
          </p:nvSpPr>
          <p:spPr>
            <a:xfrm>
              <a:off x="0" y="0"/>
              <a:ext cx="758825" cy="4624388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" name="Google Shape;9;p11"/>
            <p:cNvSpPr/>
            <p:nvPr/>
          </p:nvSpPr>
          <p:spPr>
            <a:xfrm>
              <a:off x="0" y="5662613"/>
              <a:ext cx="906463" cy="1195388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" name="Google Shape;10;p11"/>
            <p:cNvSpPr/>
            <p:nvPr/>
          </p:nvSpPr>
          <p:spPr>
            <a:xfrm>
              <a:off x="0" y="5295900"/>
              <a:ext cx="1487488" cy="1562100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" name="Google Shape;11;p11"/>
            <p:cNvSpPr/>
            <p:nvPr/>
          </p:nvSpPr>
          <p:spPr>
            <a:xfrm>
              <a:off x="0" y="5257800"/>
              <a:ext cx="2132013" cy="1600200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" name="Google Shape;12;p11"/>
            <p:cNvSpPr/>
            <p:nvPr/>
          </p:nvSpPr>
          <p:spPr>
            <a:xfrm>
              <a:off x="0" y="5357813"/>
              <a:ext cx="1377950" cy="150018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" name="Google Shape;13;p11"/>
          <p:cNvSpPr txBox="1"/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10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26" name="Google Shape;26;p10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" name="Google Shape;27;p10"/>
            <p:cNvSpPr/>
            <p:nvPr/>
          </p:nvSpPr>
          <p:spPr>
            <a:xfrm>
              <a:off x="0" y="0"/>
              <a:ext cx="758825" cy="4624388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" name="Google Shape;28;p10"/>
            <p:cNvSpPr/>
            <p:nvPr/>
          </p:nvSpPr>
          <p:spPr>
            <a:xfrm>
              <a:off x="0" y="5662613"/>
              <a:ext cx="906463" cy="1195388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" name="Google Shape;29;p10"/>
            <p:cNvSpPr/>
            <p:nvPr/>
          </p:nvSpPr>
          <p:spPr>
            <a:xfrm>
              <a:off x="0" y="5295900"/>
              <a:ext cx="1487488" cy="1562100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" name="Google Shape;30;p10"/>
            <p:cNvSpPr/>
            <p:nvPr/>
          </p:nvSpPr>
          <p:spPr>
            <a:xfrm>
              <a:off x="0" y="5257800"/>
              <a:ext cx="2132013" cy="1600200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" name="Google Shape;31;p10"/>
            <p:cNvSpPr/>
            <p:nvPr/>
          </p:nvSpPr>
          <p:spPr>
            <a:xfrm>
              <a:off x="0" y="5357813"/>
              <a:ext cx="1377950" cy="150018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2" name="Google Shape;32;p10"/>
          <p:cNvSpPr txBox="1"/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4" name="Google Shape;164;p1"/>
          <p:cNvGrpSpPr/>
          <p:nvPr/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65" name="Google Shape;165;p1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1" name="Google Shape;171;p1"/>
          <p:cNvSpPr/>
          <p:nvPr/>
        </p:nvSpPr>
        <p:spPr>
          <a:xfrm>
            <a:off x="486696" y="667808"/>
            <a:ext cx="8170607" cy="5580592"/>
          </a:xfrm>
          <a:prstGeom prst="rect">
            <a:avLst/>
          </a:prstGeom>
          <a:solidFill>
            <a:schemeClr val="dk2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2" name="Google Shape;172;p1"/>
          <p:cNvSpPr txBox="1"/>
          <p:nvPr>
            <p:ph type="title"/>
          </p:nvPr>
        </p:nvSpPr>
        <p:spPr>
          <a:xfrm>
            <a:off x="892276" y="1261872"/>
            <a:ext cx="2359152" cy="433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orbel"/>
              <a:buNone/>
            </a:pPr>
            <a:r>
              <a:rPr lang="en-US" sz="3100"/>
              <a:t>Kingsville Baptist Church</a:t>
            </a:r>
            <a:endParaRPr/>
          </a:p>
        </p:txBody>
      </p:sp>
      <p:cxnSp>
        <p:nvCxnSpPr>
          <p:cNvPr id="173" name="Google Shape;173;p1"/>
          <p:cNvCxnSpPr/>
          <p:nvPr/>
        </p:nvCxnSpPr>
        <p:spPr>
          <a:xfrm>
            <a:off x="3490721" y="1920240"/>
            <a:ext cx="0" cy="301752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"/>
          <p:cNvSpPr txBox="1"/>
          <p:nvPr>
            <p:ph idx="1" type="body"/>
          </p:nvPr>
        </p:nvSpPr>
        <p:spPr>
          <a:xfrm>
            <a:off x="3755949" y="1116918"/>
            <a:ext cx="4805030" cy="4817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Personnel Committee Overview</a:t>
            </a:r>
            <a:endParaRPr sz="1800"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lang="en-US" sz="1800"/>
              <a:t>Presented by the Personnel Committee – October 2025</a:t>
            </a:r>
            <a:endParaRPr/>
          </a:p>
          <a:p>
            <a:pPr indent="-120015" lvl="0" marL="285750" rtl="0" algn="l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Purpose: Share what the committee is, what we’ve been working on, and present a new ministry role for consideration.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BBBBB"/>
            </a:gs>
          </a:gsLst>
          <a:lin ang="5400000" scaled="0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"/>
          <p:cNvSpPr/>
          <p:nvPr/>
        </p:nvSpPr>
        <p:spPr>
          <a:xfrm>
            <a:off x="-50725" y="-81175"/>
            <a:ext cx="9144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BBBBB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0" name="Google Shape;180;p2"/>
          <p:cNvSpPr/>
          <p:nvPr/>
        </p:nvSpPr>
        <p:spPr>
          <a:xfrm flipH="1" rot="10800000">
            <a:off x="0" y="-1"/>
            <a:ext cx="3302781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1" name="Google Shape;181;p2"/>
          <p:cNvSpPr txBox="1"/>
          <p:nvPr>
            <p:ph type="title"/>
          </p:nvPr>
        </p:nvSpPr>
        <p:spPr>
          <a:xfrm>
            <a:off x="401265" y="685800"/>
            <a:ext cx="197997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en-US" sz="2800">
                <a:solidFill>
                  <a:srgbClr val="FFFFFF"/>
                </a:solidFill>
              </a:rPr>
              <a:t>Why the Personnel Committee Exists</a:t>
            </a:r>
            <a:endParaRPr/>
          </a:p>
        </p:txBody>
      </p:sp>
      <p:grpSp>
        <p:nvGrpSpPr>
          <p:cNvPr id="182" name="Google Shape;182;p2"/>
          <p:cNvGrpSpPr/>
          <p:nvPr/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83" name="Google Shape;183;p2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9" name="Google Shape;189;p2"/>
          <p:cNvGrpSpPr/>
          <p:nvPr/>
        </p:nvGrpSpPr>
        <p:grpSpPr>
          <a:xfrm>
            <a:off x="3726326" y="685809"/>
            <a:ext cx="5187948" cy="4985160"/>
            <a:chOff x="60046" y="270744"/>
            <a:chExt cx="4749563" cy="4563911"/>
          </a:xfrm>
        </p:grpSpPr>
        <p:sp>
          <p:nvSpPr>
            <p:cNvPr id="190" name="Google Shape;190;p2"/>
            <p:cNvSpPr/>
            <p:nvPr/>
          </p:nvSpPr>
          <p:spPr>
            <a:xfrm>
              <a:off x="660566" y="270744"/>
              <a:ext cx="982668" cy="98266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60046" y="1559736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60046" y="1559736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11"/>
                <a:buFont typeface="Corbel"/>
                <a:buNone/>
              </a:pPr>
              <a:r>
                <a:rPr lang="en-US" sz="1838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Supports, organizes, and encourages staff and volunteer leadership.</a:t>
              </a:r>
              <a:endParaRPr sz="2056"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226421" y="270744"/>
              <a:ext cx="982668" cy="98266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2625902" y="1559736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2625902" y="1559736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11"/>
                <a:buFont typeface="Corbel"/>
                <a:buNone/>
              </a:pPr>
              <a:r>
                <a:rPr lang="en-US" sz="1838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Ensures clarity, accountability, and care in every church role.</a:t>
              </a:r>
              <a:endParaRPr sz="2056"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60566" y="2825663"/>
              <a:ext cx="982668" cy="98266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60046" y="4114655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198" name="Google Shape;198;p2"/>
            <p:cNvSpPr txBox="1"/>
            <p:nvPr/>
          </p:nvSpPr>
          <p:spPr>
            <a:xfrm>
              <a:off x="60046" y="4114655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11"/>
                <a:buFont typeface="Corbel"/>
                <a:buNone/>
              </a:pPr>
              <a:r>
                <a:rPr lang="en-US" sz="1838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Operates under KBC’s Constitution &amp; Bylaws in partnership with the Pastor, Deacons, and other committees.</a:t>
              </a:r>
              <a:endParaRPr sz="2056"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226421" y="2825663"/>
              <a:ext cx="982668" cy="98266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2625902" y="4114655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850" lIns="99850" spcFirstLastPara="1" rIns="99850" wrap="square" tIns="99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6"/>
            </a:p>
          </p:txBody>
        </p:sp>
        <p:sp>
          <p:nvSpPr>
            <p:cNvPr id="201" name="Google Shape;201;p2"/>
            <p:cNvSpPr txBox="1"/>
            <p:nvPr/>
          </p:nvSpPr>
          <p:spPr>
            <a:xfrm>
              <a:off x="2625902" y="4114655"/>
              <a:ext cx="2183707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11"/>
                <a:buFont typeface="Corbel"/>
                <a:buNone/>
              </a:pPr>
              <a:r>
                <a:rPr lang="en-US" sz="1838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We help our people serve well, stay supported, and keep ministries healthy.</a:t>
              </a:r>
              <a:endParaRPr sz="2056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7" name="Google Shape;207;p3"/>
          <p:cNvGrpSpPr/>
          <p:nvPr/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208" name="Google Shape;208;p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4" name="Google Shape;214;p3"/>
          <p:cNvSpPr txBox="1"/>
          <p:nvPr>
            <p:ph type="title"/>
          </p:nvPr>
        </p:nvSpPr>
        <p:spPr>
          <a:xfrm>
            <a:off x="1113234" y="1284051"/>
            <a:ext cx="2109288" cy="372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Corbel"/>
              <a:buNone/>
            </a:pPr>
            <a:r>
              <a:rPr lang="en-US" sz="3100">
                <a:solidFill>
                  <a:srgbClr val="000000"/>
                </a:solidFill>
              </a:rPr>
              <a:t>How We Operate</a:t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3465871" y="648931"/>
            <a:ext cx="5161397" cy="5231964"/>
          </a:xfrm>
          <a:prstGeom prst="roundRect">
            <a:avLst>
              <a:gd fmla="val 4834" name="adj"/>
            </a:avLst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16" name="Google Shape;216;p3"/>
          <p:cNvGrpSpPr/>
          <p:nvPr/>
        </p:nvGrpSpPr>
        <p:grpSpPr>
          <a:xfrm>
            <a:off x="3707107" y="1426019"/>
            <a:ext cx="4675605" cy="3698613"/>
            <a:chOff x="1207" y="433838"/>
            <a:chExt cx="4675605" cy="3698613"/>
          </a:xfrm>
        </p:grpSpPr>
        <p:sp>
          <p:nvSpPr>
            <p:cNvPr id="217" name="Google Shape;217;p3"/>
            <p:cNvSpPr/>
            <p:nvPr/>
          </p:nvSpPr>
          <p:spPr>
            <a:xfrm>
              <a:off x="273369" y="433838"/>
              <a:ext cx="851378" cy="851378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54810" y="615280"/>
              <a:ext cx="488496" cy="48849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1207" y="1550401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0" name="Google Shape;220;p3"/>
            <p:cNvSpPr txBox="1"/>
            <p:nvPr/>
          </p:nvSpPr>
          <p:spPr>
            <a:xfrm>
              <a:off x="1207" y="1550401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orbel"/>
                <a:buNone/>
              </a:pPr>
              <a:r>
                <a:rPr lang="en-US" sz="1300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GUIDING PRINCIPLES:</a:t>
              </a:r>
              <a:endParaRPr sz="1600"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1913320" y="433838"/>
              <a:ext cx="851378" cy="851378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094761" y="615280"/>
              <a:ext cx="488496" cy="48849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1641158" y="1550401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4" name="Google Shape;224;p3"/>
            <p:cNvSpPr txBox="1"/>
            <p:nvPr/>
          </p:nvSpPr>
          <p:spPr>
            <a:xfrm>
              <a:off x="1641158" y="1550401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orbel"/>
                <a:buNone/>
              </a:pPr>
              <a:r>
                <a:rPr lang="en-US" sz="1300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PRAY, PLAN, AND ACT WITH CONFIDENTIALITY AND INTEGRITY.</a:t>
              </a:r>
              <a:endParaRPr sz="1600"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553271" y="433838"/>
              <a:ext cx="851378" cy="851378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734713" y="615280"/>
              <a:ext cx="488496" cy="48849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281109" y="1550401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28" name="Google Shape;228;p3"/>
            <p:cNvSpPr txBox="1"/>
            <p:nvPr/>
          </p:nvSpPr>
          <p:spPr>
            <a:xfrm>
              <a:off x="3281109" y="1550401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orbel"/>
                <a:buNone/>
              </a:pPr>
              <a:r>
                <a:rPr lang="en-US" sz="1300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ALIGN EACH ROLE WITH SCRIPTURE AND CHURCH MISSION.</a:t>
              </a:r>
              <a:endParaRPr sz="1600"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273369" y="2457608"/>
              <a:ext cx="851378" cy="851378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454810" y="2639049"/>
              <a:ext cx="488496" cy="48849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1207" y="3574170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2" name="Google Shape;232;p3"/>
            <p:cNvSpPr txBox="1"/>
            <p:nvPr/>
          </p:nvSpPr>
          <p:spPr>
            <a:xfrm>
              <a:off x="1207" y="3574170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orbel"/>
                <a:buNone/>
              </a:pPr>
              <a:r>
                <a:rPr lang="en-US" sz="1300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DEVELOP CLEAR JOB DESCRIPTIONS AND EVALUATION FRAMEWORKS.</a:t>
              </a:r>
              <a:endParaRPr sz="1600"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1913320" y="2457608"/>
              <a:ext cx="851378" cy="851378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2094761" y="2639049"/>
              <a:ext cx="488496" cy="48849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1641158" y="3574170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6" name="Google Shape;236;p3"/>
            <p:cNvSpPr txBox="1"/>
            <p:nvPr/>
          </p:nvSpPr>
          <p:spPr>
            <a:xfrm>
              <a:off x="1641158" y="3574170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orbel"/>
                <a:buNone/>
              </a:pPr>
              <a:r>
                <a:rPr lang="en-US" sz="1300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RECOMMEND COMPENSATION IN COORDINATION WITH THE FINANCE COMMITTEE.</a:t>
              </a:r>
              <a:endParaRPr sz="1600"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3553271" y="2457608"/>
              <a:ext cx="851378" cy="851378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3734713" y="2639049"/>
              <a:ext cx="488496" cy="48849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3281109" y="3574170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240" name="Google Shape;240;p3"/>
            <p:cNvSpPr txBox="1"/>
            <p:nvPr/>
          </p:nvSpPr>
          <p:spPr>
            <a:xfrm>
              <a:off x="3281109" y="3574170"/>
              <a:ext cx="1395703" cy="558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orbel"/>
                <a:buNone/>
              </a:pPr>
              <a:r>
                <a:rPr lang="en-US" sz="1300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OUR GOAL IS STRUCTURE WITH GRACE</a:t>
              </a:r>
              <a:r>
                <a:rPr lang="en-US" sz="1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US" sz="1300" cap="non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 SUPPORTING MINISTRY, NOT BUREAUCRACY.</a:t>
              </a:r>
              <a:endParaRPr sz="16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6" name="Google Shape;246;p4"/>
          <p:cNvSpPr/>
          <p:nvPr/>
        </p:nvSpPr>
        <p:spPr>
          <a:xfrm flipH="1" rot="10800000">
            <a:off x="0" y="-1"/>
            <a:ext cx="3302781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7" name="Google Shape;247;p4"/>
          <p:cNvSpPr txBox="1"/>
          <p:nvPr>
            <p:ph type="title"/>
          </p:nvPr>
        </p:nvSpPr>
        <p:spPr>
          <a:xfrm>
            <a:off x="372084" y="685801"/>
            <a:ext cx="2057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en-US" sz="2800">
                <a:solidFill>
                  <a:srgbClr val="FFFFFF"/>
                </a:solidFill>
              </a:rPr>
              <a:t>What We’ve Been Working On</a:t>
            </a:r>
            <a:endParaRPr/>
          </a:p>
        </p:txBody>
      </p:sp>
      <p:grpSp>
        <p:nvGrpSpPr>
          <p:cNvPr id="248" name="Google Shape;248;p4"/>
          <p:cNvGrpSpPr/>
          <p:nvPr/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249" name="Google Shape;249;p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55" name="Google Shape;255;p4"/>
          <p:cNvSpPr txBox="1"/>
          <p:nvPr>
            <p:ph idx="1" type="body"/>
          </p:nvPr>
        </p:nvSpPr>
        <p:spPr>
          <a:xfrm>
            <a:off x="3837825" y="685800"/>
            <a:ext cx="5043900" cy="53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65"/>
              <a:buNone/>
            </a:pPr>
            <a:r>
              <a:rPr lang="en-US" sz="2000"/>
              <a:t>Recent Accomplishments (2025):</a:t>
            </a:r>
            <a:endParaRPr sz="2700"/>
          </a:p>
          <a:p>
            <a:pPr indent="-304800" lvl="0" marL="285750" rtl="0" algn="l">
              <a:spcBef>
                <a:spcPts val="940"/>
              </a:spcBef>
              <a:spcAft>
                <a:spcPts val="0"/>
              </a:spcAft>
              <a:buSzPts val="2765"/>
              <a:buChar char="•"/>
            </a:pPr>
            <a:r>
              <a:rPr lang="en-US" sz="2000"/>
              <a:t>Finalized Job Descriptions for Pastor &amp; Student Ministry Director.</a:t>
            </a:r>
            <a:endParaRPr sz="2700"/>
          </a:p>
          <a:p>
            <a:pPr indent="-304800" lvl="0" marL="285750" rtl="0" algn="l">
              <a:spcBef>
                <a:spcPts val="940"/>
              </a:spcBef>
              <a:spcAft>
                <a:spcPts val="0"/>
              </a:spcAft>
              <a:buSzPts val="2765"/>
              <a:buChar char="•"/>
            </a:pPr>
            <a:r>
              <a:rPr lang="en-US" sz="2000"/>
              <a:t>Drafted the to be proposed Young Adult Ministry Director role.</a:t>
            </a:r>
            <a:endParaRPr sz="2700"/>
          </a:p>
          <a:p>
            <a:pPr indent="-304800" lvl="0" marL="285750" rtl="0" algn="l">
              <a:spcBef>
                <a:spcPts val="940"/>
              </a:spcBef>
              <a:spcAft>
                <a:spcPts val="0"/>
              </a:spcAft>
              <a:buSzPts val="2765"/>
              <a:buChar char="•"/>
            </a:pPr>
            <a:r>
              <a:rPr lang="en-US" sz="2000"/>
              <a:t>Created Evaluation &amp; Accountability Framework for these roles.</a:t>
            </a:r>
            <a:endParaRPr sz="2700"/>
          </a:p>
          <a:p>
            <a:pPr indent="-304800" lvl="0" marL="285750" rtl="0" algn="l">
              <a:spcBef>
                <a:spcPts val="940"/>
              </a:spcBef>
              <a:spcAft>
                <a:spcPts val="0"/>
              </a:spcAft>
              <a:buSzPts val="2765"/>
              <a:buChar char="•"/>
            </a:pPr>
            <a:r>
              <a:rPr lang="en-US" sz="2000"/>
              <a:t>Organized committee document system (Drive + standards).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/>
          <p:nvPr/>
        </p:nvSpPr>
        <p:spPr>
          <a:xfrm>
            <a:off x="0" y="0"/>
            <a:ext cx="9141618" cy="6858000"/>
          </a:xfrm>
          <a:prstGeom prst="rect">
            <a:avLst/>
          </a:pr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792812" y="0"/>
            <a:ext cx="8351188" cy="6858000"/>
          </a:xfrm>
          <a:custGeom>
            <a:rect b="b" l="l" r="r" t="t"/>
            <a:pathLst>
              <a:path extrusionOk="0" h="6858000" w="11134917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62" name="Google Shape;262;p5"/>
          <p:cNvGrpSpPr/>
          <p:nvPr/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263" name="Google Shape;263;p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69" name="Google Shape;269;p5"/>
          <p:cNvSpPr txBox="1"/>
          <p:nvPr>
            <p:ph type="title"/>
          </p:nvPr>
        </p:nvSpPr>
        <p:spPr>
          <a:xfrm>
            <a:off x="1377009" y="1072609"/>
            <a:ext cx="2281168" cy="452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rbel"/>
              <a:buNone/>
            </a:pPr>
            <a:r>
              <a:rPr lang="en-US" sz="2800">
                <a:solidFill>
                  <a:schemeClr val="dk2"/>
                </a:solidFill>
              </a:rPr>
              <a:t>What’s Next (2025–2026)</a:t>
            </a:r>
            <a:endParaRPr/>
          </a:p>
        </p:txBody>
      </p:sp>
      <p:sp>
        <p:nvSpPr>
          <p:cNvPr id="270" name="Google Shape;270;p5"/>
          <p:cNvSpPr txBox="1"/>
          <p:nvPr>
            <p:ph idx="1" type="body"/>
          </p:nvPr>
        </p:nvSpPr>
        <p:spPr>
          <a:xfrm>
            <a:off x="3851299" y="695109"/>
            <a:ext cx="49731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Next Priorities: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Finalize Pastor Bivocational Adjustment Plan for clarity.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Develop roles for Clerk, Treasurer, and Administrative Support.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Implement staff evaluation check-ins.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Continue refining committee workflows and documentation.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Create onboarding and training resources for all key roles.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Finish a clear, supportive framework for every ministry area.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6" name="Google Shape;276;p6"/>
          <p:cNvSpPr/>
          <p:nvPr/>
        </p:nvSpPr>
        <p:spPr>
          <a:xfrm flipH="1" rot="10800000">
            <a:off x="0" y="-1"/>
            <a:ext cx="3302781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159FE7"/>
              </a:gs>
              <a:gs pos="23000">
                <a:srgbClr val="159FE7"/>
              </a:gs>
              <a:gs pos="69000">
                <a:srgbClr val="1186C3"/>
              </a:gs>
              <a:gs pos="97000">
                <a:srgbClr val="107DB6"/>
              </a:gs>
              <a:gs pos="100000">
                <a:srgbClr val="107DB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7" name="Google Shape;277;p6"/>
          <p:cNvSpPr txBox="1"/>
          <p:nvPr>
            <p:ph type="title"/>
          </p:nvPr>
        </p:nvSpPr>
        <p:spPr>
          <a:xfrm>
            <a:off x="372084" y="685801"/>
            <a:ext cx="2057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en-US" sz="2800">
                <a:solidFill>
                  <a:srgbClr val="FFFFFF"/>
                </a:solidFill>
              </a:rPr>
              <a:t>New Ministry Opportunity</a:t>
            </a:r>
            <a:endParaRPr/>
          </a:p>
        </p:txBody>
      </p:sp>
      <p:grpSp>
        <p:nvGrpSpPr>
          <p:cNvPr id="278" name="Google Shape;278;p6"/>
          <p:cNvGrpSpPr/>
          <p:nvPr/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279" name="Google Shape;279;p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85" name="Google Shape;285;p6"/>
          <p:cNvSpPr txBox="1"/>
          <p:nvPr>
            <p:ph idx="1" type="body"/>
          </p:nvPr>
        </p:nvSpPr>
        <p:spPr>
          <a:xfrm>
            <a:off x="3837829" y="685800"/>
            <a:ext cx="5115927" cy="5579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Young Adult Ministry Director (Proposed)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Purpose: Equip and encourage young adults (ages 18–28) to follow Christ in all their lives, for all their lives.</a:t>
            </a:r>
            <a:endParaRPr/>
          </a:p>
          <a:p>
            <a:pPr indent="-101600" lvl="0" marL="2857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Why It Matters: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Bridges the gap between youth and adult ministries.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Builds community and discipleship for post-high-school adults.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Encourages worship, service, and leadership among young adults.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7"/>
          <p:cNvSpPr txBox="1"/>
          <p:nvPr>
            <p:ph type="title"/>
          </p:nvPr>
        </p:nvSpPr>
        <p:spPr>
          <a:xfrm>
            <a:off x="512706" y="764372"/>
            <a:ext cx="2380266" cy="5216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Role Overview</a:t>
            </a:r>
            <a:endParaRPr/>
          </a:p>
        </p:txBody>
      </p:sp>
      <p:cxnSp>
        <p:nvCxnSpPr>
          <p:cNvPr id="292" name="Google Shape;292;p7"/>
          <p:cNvCxnSpPr/>
          <p:nvPr/>
        </p:nvCxnSpPr>
        <p:spPr>
          <a:xfrm>
            <a:off x="3095397" y="1923563"/>
            <a:ext cx="0" cy="301752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7"/>
          <p:cNvSpPr txBox="1"/>
          <p:nvPr>
            <p:ph idx="1" type="body"/>
          </p:nvPr>
        </p:nvSpPr>
        <p:spPr>
          <a:xfrm>
            <a:off x="3277602" y="764372"/>
            <a:ext cx="5700681" cy="5575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7016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Part-Time Position (~7–8 hrs/week)</a:t>
            </a:r>
            <a:endParaRPr sz="2060"/>
          </a:p>
          <a:p>
            <a:pPr indent="-257016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1-year Trial Period</a:t>
            </a:r>
            <a:endParaRPr sz="1750"/>
          </a:p>
          <a:p>
            <a:pPr indent="-257016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Reports To: Senior Pastor</a:t>
            </a:r>
            <a:endParaRPr sz="175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248"/>
              <a:buNone/>
            </a:pPr>
            <a:r>
              <a:t/>
            </a:r>
            <a:endParaRPr sz="175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248"/>
              <a:buNone/>
            </a:pPr>
            <a:r>
              <a:rPr lang="en-US" sz="1750"/>
              <a:t>Key Responsibilities:</a:t>
            </a:r>
            <a:endParaRPr sz="2060"/>
          </a:p>
          <a:p>
            <a:pPr indent="-257016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Lead weekly &amp; mid-week gatherings or Bible studies.</a:t>
            </a:r>
            <a:endParaRPr sz="2060"/>
          </a:p>
          <a:p>
            <a:pPr indent="-257016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Plan 1–2 outreach/fellowship events per quarter.</a:t>
            </a:r>
            <a:endParaRPr sz="2060"/>
          </a:p>
          <a:p>
            <a:pPr indent="-257016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Provide mentoring and discipleship.</a:t>
            </a:r>
            <a:endParaRPr sz="2060"/>
          </a:p>
          <a:p>
            <a:pPr indent="-257016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Encourage young-adult participation in church-wide service.</a:t>
            </a:r>
            <a:endParaRPr sz="2060"/>
          </a:p>
          <a:p>
            <a:pPr indent="-10160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248"/>
              <a:buNone/>
            </a:pPr>
            <a:r>
              <a:t/>
            </a:r>
            <a:endParaRPr sz="1750"/>
          </a:p>
          <a:p>
            <a:pPr indent="-257016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48"/>
              <a:buChar char="•"/>
            </a:pPr>
            <a:r>
              <a:rPr lang="en-US" sz="1750"/>
              <a:t>Split existing Youth Director Salary in half and fund within existing budget.</a:t>
            </a:r>
            <a:endParaRPr sz="1750"/>
          </a:p>
          <a:p>
            <a:pPr indent="-263525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550"/>
              <a:buChar char="•"/>
            </a:pPr>
            <a:r>
              <a:rPr lang="en-US" sz="1750"/>
              <a:t>Paul Humphrey would move into the newly created Adult Ministry Director Role</a:t>
            </a:r>
            <a:endParaRPr sz="1750"/>
          </a:p>
          <a:p>
            <a:pPr indent="-25400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750"/>
              <a:t>Joel Lynch would step into the Student Ministry Director</a:t>
            </a:r>
            <a:endParaRPr sz="1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99" name="Google Shape;299;p9"/>
          <p:cNvGrpSpPr/>
          <p:nvPr/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300" name="Google Shape;300;p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06" name="Google Shape;306;p9"/>
          <p:cNvSpPr/>
          <p:nvPr/>
        </p:nvSpPr>
        <p:spPr>
          <a:xfrm>
            <a:off x="486696" y="667808"/>
            <a:ext cx="8170607" cy="5580592"/>
          </a:xfrm>
          <a:prstGeom prst="rect">
            <a:avLst/>
          </a:prstGeom>
          <a:solidFill>
            <a:schemeClr val="dk2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7" name="Google Shape;307;p9"/>
          <p:cNvSpPr txBox="1"/>
          <p:nvPr>
            <p:ph type="title"/>
          </p:nvPr>
        </p:nvSpPr>
        <p:spPr>
          <a:xfrm>
            <a:off x="892276" y="1261872"/>
            <a:ext cx="2359152" cy="433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orbel"/>
              <a:buNone/>
            </a:pPr>
            <a:r>
              <a:rPr lang="en-US" sz="2600"/>
              <a:t>Motion for Congregational Vote</a:t>
            </a:r>
            <a:endParaRPr/>
          </a:p>
        </p:txBody>
      </p:sp>
      <p:cxnSp>
        <p:nvCxnSpPr>
          <p:cNvPr id="308" name="Google Shape;308;p9"/>
          <p:cNvCxnSpPr/>
          <p:nvPr/>
        </p:nvCxnSpPr>
        <p:spPr>
          <a:xfrm>
            <a:off x="3490721" y="1920240"/>
            <a:ext cx="0" cy="301752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9"/>
          <p:cNvSpPr txBox="1"/>
          <p:nvPr>
            <p:ph idx="1" type="body"/>
          </p:nvPr>
        </p:nvSpPr>
        <p:spPr>
          <a:xfrm>
            <a:off x="3755949" y="1261873"/>
            <a:ext cx="4463259" cy="4449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Motion: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That Kingsville Baptist Church establish a 1-year trial position for a part-time Young Adult Ministry Director as described, effective immediately, funded from existing </a:t>
            </a:r>
            <a:r>
              <a:rPr lang="en-US" sz="2000"/>
              <a:t>personnel </a:t>
            </a:r>
            <a:r>
              <a:rPr lang="en-US" sz="2000"/>
              <a:t>resources.</a:t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Paul Humphrey would move into the newly created Adult Ministry Director Role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Joel Lynch would step into the Student Ministry Director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Split the current Youth Director Salary between both roles. 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